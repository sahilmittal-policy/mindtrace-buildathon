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76288" y="0"/>
            <a:ext cx="5315407" cy="6858000"/>
          </a:xfrm>
          <a:prstGeom prst="rect">
            <a:avLst/>
          </a:prstGeom>
          <a:solidFill>
            <a:srgbClr val="E7DCC8"/>
          </a:solidFill>
          <a:ln>
            <a:solidFill>
              <a:srgbClr val="E7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dtrace-la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0"/>
            <a:ext cx="531540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76288" y="0"/>
            <a:ext cx="5315407" cy="6858000"/>
          </a:xfrm>
          <a:prstGeom prst="rect">
            <a:avLst/>
          </a:prstGeom>
          <a:solidFill>
            <a:srgbClr val="F7F2E8"/>
          </a:solidFill>
          <a:ln>
            <a:solidFill>
              <a:srgbClr val="F7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B744D"/>
                </a:solidFill>
                <a:latin typeface="Aptos"/>
              </a:rPr>
              <a:t>MINDTRACE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216152"/>
            <a:ext cx="571500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0">
                <a:solidFill>
                  <a:srgbClr val="31271E"/>
                </a:solidFill>
                <a:latin typeface="Georgia"/>
              </a:rPr>
              <a:t>Your mind has
a rhythm.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53512"/>
            <a:ext cx="54406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70675C"/>
                </a:solidFill>
                <a:latin typeface="Aptos"/>
              </a:rPr>
              <a:t>A five-minute daily cognitive check-in that compares you to you — not to a population average.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33672"/>
            <a:ext cx="2176272" cy="457200"/>
          </a:xfrm>
          <a:prstGeom prst="roundRect">
            <a:avLst>
              <a:gd name="adj" fmla="val 12000"/>
            </a:avLst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33672"/>
            <a:ext cx="2176272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PRODUCT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956048"/>
            <a:ext cx="5212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1271E"/>
                </a:solidFill>
                <a:latin typeface="Aptos"/>
              </a:rPr>
              <a:t>Problem  ·  Product  ·  Market  · 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080760"/>
            <a:ext cx="5212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0675C"/>
                </a:solidFill>
                <a:latin typeface="Aptos"/>
              </a:rPr>
              <a:t>MindTrace is a wellness tracker, not a diagnostic tool.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28816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MindTrace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52881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B744D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31271E"/>
                </a:solidFill>
                <a:latin typeface="Georgia"/>
              </a:rPr>
              <a:t>People notice changes long before they have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0675C"/>
                </a:solidFill>
                <a:latin typeface="Aptos"/>
              </a:rPr>
              <a:t>The current choices do not answer the question: “Is this different from how I usually am?”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27080" cy="10972"/>
          </a:xfrm>
          <a:prstGeom prst="rect">
            <a:avLst/>
          </a:prstGeom>
          <a:solidFill>
            <a:srgbClr val="D7CDBC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310128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2395728"/>
            <a:ext cx="475488" cy="475488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063240"/>
            <a:ext cx="28163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1271E"/>
                </a:solidFill>
                <a:latin typeface="Aptos"/>
              </a:rPr>
              <a:t>IGNORE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547872"/>
            <a:ext cx="278892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70675C"/>
                </a:solidFill>
                <a:latin typeface="Aptos"/>
              </a:rPr>
              <a:t>Most people wait, normalize the change, and carry the worry alone.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148840"/>
            <a:ext cx="3310128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0288" y="2395728"/>
            <a:ext cx="475488" cy="475488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063240"/>
            <a:ext cx="28163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1271E"/>
                </a:solidFill>
                <a:latin typeface="Aptos"/>
              </a:rPr>
              <a:t>ASK A DOCTOR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547872"/>
            <a:ext cx="278892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70675C"/>
                </a:solidFill>
                <a:latin typeface="Aptos"/>
              </a:rPr>
              <a:t>A one-time screen is designed to catch impairment, not explain everyday variation.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148840"/>
            <a:ext cx="3310128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93608" y="2395728"/>
            <a:ext cx="475488" cy="475488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063240"/>
            <a:ext cx="28163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1271E"/>
                </a:solidFill>
                <a:latin typeface="Aptos"/>
              </a:rPr>
              <a:t>TRY A BRAIN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547872"/>
            <a:ext cx="278892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70675C"/>
                </a:solidFill>
                <a:latin typeface="Aptos"/>
              </a:rPr>
              <a:t>Practice makes the score rise, so improvement may measure familiarity rather than cognition.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15000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25336"/>
                </a:solidFill>
                <a:latin typeface="Aptos"/>
              </a:rPr>
              <a:t>The missing product: </a:t>
            </a:r>
            <a:r>
              <a:rPr sz="1700" b="0">
                <a:solidFill>
                  <a:srgbClr val="31271E"/>
                </a:solidFill>
                <a:latin typeface="Aptos"/>
              </a:rPr>
              <a:t>consumer-accessible tracking that separates a bad day from a sustained personal pattern.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28816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MindTrace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2881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B744D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31271E"/>
                </a:solidFill>
                <a:latin typeface="Georgia"/>
              </a:rPr>
              <a:t>A daily check-in built around personal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0675C"/>
                </a:solidFill>
                <a:latin typeface="Aptos"/>
              </a:rPr>
              <a:t>MindTrace combines how you feel with how you perform, then tracks the pattern over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27080" cy="10972"/>
          </a:xfrm>
          <a:prstGeom prst="rect">
            <a:avLst/>
          </a:prstGeom>
          <a:solidFill>
            <a:srgbClr val="D7CDBC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553212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ndtrace-la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193792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32180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B744D"/>
                </a:solidFill>
                <a:latin typeface="Aptos"/>
              </a:rPr>
              <a:t>Live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5285232"/>
            <a:ext cx="4114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Accounts, daily check-ins, games, dashboard, achievements, friends and export.</a:t>
            </a:r>
          </a:p>
        </p:txBody>
      </p:sp>
      <p:sp>
        <p:nvSpPr>
          <p:cNvPr id="10" name="Oval 9"/>
          <p:cNvSpPr/>
          <p:nvPr/>
        </p:nvSpPr>
        <p:spPr>
          <a:xfrm>
            <a:off x="6629400" y="2148840"/>
            <a:ext cx="475488" cy="475488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139696"/>
            <a:ext cx="3840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1271E"/>
                </a:solidFill>
                <a:latin typeface="Aptos"/>
              </a:rPr>
              <a:t>Check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496312"/>
            <a:ext cx="4023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0675C"/>
                </a:solidFill>
                <a:latin typeface="Aptos"/>
              </a:rPr>
              <a:t>Sleep, mood, stress, energy &amp; caffeine</a:t>
            </a:r>
          </a:p>
        </p:txBody>
      </p:sp>
      <p:sp>
        <p:nvSpPr>
          <p:cNvPr id="13" name="Oval 12"/>
          <p:cNvSpPr/>
          <p:nvPr/>
        </p:nvSpPr>
        <p:spPr>
          <a:xfrm>
            <a:off x="6629400" y="3319272"/>
            <a:ext cx="475488" cy="475488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310128"/>
            <a:ext cx="3840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1271E"/>
                </a:solidFill>
                <a:latin typeface="Aptos"/>
              </a:rPr>
              <a:t>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666744"/>
            <a:ext cx="4023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0675C"/>
                </a:solidFill>
                <a:latin typeface="Aptos"/>
              </a:rPr>
              <a:t>Three short cognitive games</a:t>
            </a:r>
          </a:p>
        </p:txBody>
      </p:sp>
      <p:sp>
        <p:nvSpPr>
          <p:cNvPr id="16" name="Oval 15"/>
          <p:cNvSpPr/>
          <p:nvPr/>
        </p:nvSpPr>
        <p:spPr>
          <a:xfrm>
            <a:off x="6629400" y="4489704"/>
            <a:ext cx="475488" cy="475488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480560"/>
            <a:ext cx="3840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1271E"/>
                </a:solidFill>
                <a:latin typeface="Aptos"/>
              </a:rPr>
              <a:t>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837176"/>
            <a:ext cx="4023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0675C"/>
                </a:solidFill>
                <a:latin typeface="Aptos"/>
              </a:rPr>
              <a:t>See today in the context of your own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5559552"/>
            <a:ext cx="4709160" cy="502920"/>
          </a:xfrm>
          <a:prstGeom prst="roundRect">
            <a:avLst>
              <a:gd name="adj" fmla="val 12000"/>
            </a:avLst>
          </a:prstGeom>
          <a:solidFill>
            <a:srgbClr val="DBE4D6"/>
          </a:solidFill>
          <a:ln>
            <a:solidFill>
              <a:srgbClr val="DBE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5559552"/>
            <a:ext cx="45720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25336"/>
                </a:solidFill>
                <a:latin typeface="Aptos"/>
              </a:rPr>
              <a:t>Five minutes. Once a day. Private by design.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28816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MindTrace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2881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B744D"/>
                </a:solidFill>
                <a:latin typeface="Aptos"/>
              </a:rPr>
              <a:t>THE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31271E"/>
                </a:solidFill>
                <a:latin typeface="Georgia"/>
              </a:rPr>
              <a:t>Three quick tasks create a fuller picture.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0675C"/>
                </a:solidFill>
                <a:latin typeface="Aptos"/>
              </a:rPr>
              <a:t>Each game probes a different cognitive domain; one is enough, all three are better.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27080" cy="10972"/>
          </a:xfrm>
          <a:prstGeom prst="rect">
            <a:avLst/>
          </a:prstGeom>
          <a:solidFill>
            <a:srgbClr val="D7CDBC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3337560" cy="3337560"/>
          </a:xfrm>
          <a:prstGeom prst="roundRect">
            <a:avLst>
              <a:gd name="adj" fmla="val 12000"/>
            </a:avLst>
          </a:prstGeom>
          <a:solidFill>
            <a:srgbClr val="DBE4D6"/>
          </a:solidFill>
          <a:ln>
            <a:solidFill>
              <a:srgbClr val="DBE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59152"/>
            <a:ext cx="548640" cy="548640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27248"/>
            <a:ext cx="2788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B744D"/>
                </a:solidFill>
                <a:latin typeface="Aptos"/>
              </a:rPr>
              <a:t>SYMBOL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1271E"/>
                </a:solidFill>
                <a:latin typeface="Aptos"/>
              </a:rPr>
              <a:t>Focus +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87952"/>
            <a:ext cx="2761488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0675C"/>
                </a:solidFill>
                <a:latin typeface="Aptos"/>
              </a:rPr>
              <a:t>Find the one symbol shared across two changing cards.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337560" cy="3337560"/>
          </a:xfrm>
          <a:prstGeom prst="roundRect">
            <a:avLst>
              <a:gd name="adj" fmla="val 12000"/>
            </a:avLst>
          </a:prstGeom>
          <a:solidFill>
            <a:srgbClr val="E4DCF0"/>
          </a:solidFill>
          <a:ln>
            <a:solidFill>
              <a:srgbClr val="E4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5152" y="2359152"/>
            <a:ext cx="548640" cy="548640"/>
          </a:xfrm>
          <a:prstGeom prst="ellipse">
            <a:avLst/>
          </a:prstGeom>
          <a:solidFill>
            <a:srgbClr val="6F578B"/>
          </a:solidFill>
          <a:ln>
            <a:solidFill>
              <a:srgbClr val="6F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127248"/>
            <a:ext cx="2788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578B"/>
                </a:solidFill>
                <a:latin typeface="Aptos"/>
              </a:rPr>
              <a:t>WHAT’S IN A SYMBOL?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703320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1271E"/>
                </a:solidFill>
                <a:latin typeface="Aptos"/>
              </a:rPr>
              <a:t>Short-term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4187952"/>
            <a:ext cx="2761488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0675C"/>
                </a:solidFill>
                <a:latin typeface="Aptos"/>
              </a:rPr>
              <a:t>Remember which symbols appeared a moment ago.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103120"/>
            <a:ext cx="3337560" cy="3337560"/>
          </a:xfrm>
          <a:prstGeom prst="roundRect">
            <a:avLst>
              <a:gd name="adj" fmla="val 12000"/>
            </a:avLst>
          </a:prstGeom>
          <a:solidFill>
            <a:srgbClr val="E7DCC8"/>
          </a:solidFill>
          <a:ln>
            <a:solidFill>
              <a:srgbClr val="E7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75904" y="2359152"/>
            <a:ext cx="548640" cy="548640"/>
          </a:xfrm>
          <a:prstGeom prst="ellipse">
            <a:avLst/>
          </a:prstGeom>
          <a:solidFill>
            <a:srgbClr val="B68952"/>
          </a:solidFill>
          <a:ln>
            <a:solidFill>
              <a:srgbClr val="B68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127248"/>
            <a:ext cx="2788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68952"/>
                </a:solidFill>
                <a:latin typeface="Aptos"/>
              </a:rPr>
              <a:t>WORD FILL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3703320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1271E"/>
                </a:solidFill>
                <a:latin typeface="Aptos"/>
              </a:rPr>
              <a:t>Language +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4187952"/>
            <a:ext cx="2761488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0675C"/>
                </a:solidFill>
                <a:latin typeface="Aptos"/>
              </a:rPr>
              <a:t>Complete ordinary sentences with the word that fits.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06440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31271E"/>
                </a:solidFill>
                <a:latin typeface="Aptos"/>
              </a:rPr>
              <a:t>Designed to measure consistency, not to “train” a score upward.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28816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MindTrace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2881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B744D"/>
                </a:solidFill>
                <a:latin typeface="Aptos"/>
              </a:rPr>
              <a:t>WHY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31271E"/>
                </a:solidFill>
                <a:latin typeface="Georgia"/>
              </a:rPr>
              <a:t>The comparison is personal — not population-based.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0675C"/>
                </a:solidFill>
                <a:latin typeface="Aptos"/>
              </a:rPr>
              <a:t>Daily context helps explain ordinary dips before they become alarming.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27080" cy="10972"/>
          </a:xfrm>
          <a:prstGeom prst="rect">
            <a:avLst/>
          </a:prstGeom>
          <a:solidFill>
            <a:srgbClr val="D7CDBC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14884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B744D"/>
                </a:solidFill>
                <a:latin typeface="Aptos"/>
              </a:rPr>
              <a:t>BASELINE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6528" y="2148840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4B744D"/>
                </a:solidFill>
                <a:latin typeface="Aptos"/>
              </a:rPr>
              <a:t>ACTIVE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907792"/>
            <a:ext cx="10149840" cy="73152"/>
          </a:xfrm>
          <a:prstGeom prst="rect">
            <a:avLst/>
          </a:prstGeom>
          <a:solidFill>
            <a:srgbClr val="D7CDBC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706624"/>
            <a:ext cx="438912" cy="438912"/>
          </a:xfrm>
          <a:prstGeom prst="ellipse">
            <a:avLst/>
          </a:prstGeom>
          <a:solidFill>
            <a:srgbClr val="8EA68B"/>
          </a:solidFill>
          <a:ln>
            <a:solidFill>
              <a:srgbClr val="8E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452489" y="2706624"/>
            <a:ext cx="438912" cy="438912"/>
          </a:xfrm>
          <a:prstGeom prst="ellipse">
            <a:avLst/>
          </a:prstGeom>
          <a:solidFill>
            <a:srgbClr val="8EA68B"/>
          </a:solidFill>
          <a:ln>
            <a:solidFill>
              <a:srgbClr val="8E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944858" y="2706624"/>
            <a:ext cx="438912" cy="438912"/>
          </a:xfrm>
          <a:prstGeom prst="ellipse">
            <a:avLst/>
          </a:prstGeom>
          <a:solidFill>
            <a:srgbClr val="8EA68B"/>
          </a:solidFill>
          <a:ln>
            <a:solidFill>
              <a:srgbClr val="8E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437227" y="2706624"/>
            <a:ext cx="438912" cy="438912"/>
          </a:xfrm>
          <a:prstGeom prst="ellipse">
            <a:avLst/>
          </a:prstGeom>
          <a:solidFill>
            <a:srgbClr val="8EA68B"/>
          </a:solidFill>
          <a:ln>
            <a:solidFill>
              <a:srgbClr val="8E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2929596" y="2706624"/>
            <a:ext cx="438912" cy="438912"/>
          </a:xfrm>
          <a:prstGeom prst="ellipse">
            <a:avLst/>
          </a:prstGeom>
          <a:solidFill>
            <a:srgbClr val="8EA68B"/>
          </a:solidFill>
          <a:ln>
            <a:solidFill>
              <a:srgbClr val="8E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3421966" y="2706624"/>
            <a:ext cx="438912" cy="438912"/>
          </a:xfrm>
          <a:prstGeom prst="ellipse">
            <a:avLst/>
          </a:prstGeom>
          <a:solidFill>
            <a:srgbClr val="8EA68B"/>
          </a:solidFill>
          <a:ln>
            <a:solidFill>
              <a:srgbClr val="8E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3914335" y="2706624"/>
            <a:ext cx="438912" cy="438912"/>
          </a:xfrm>
          <a:prstGeom prst="ellipse">
            <a:avLst/>
          </a:prstGeom>
          <a:solidFill>
            <a:srgbClr val="8EA68B"/>
          </a:solidFill>
          <a:ln>
            <a:solidFill>
              <a:srgbClr val="8E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6" name="Oval 15"/>
          <p:cNvSpPr/>
          <p:nvPr/>
        </p:nvSpPr>
        <p:spPr>
          <a:xfrm>
            <a:off x="4406704" y="2706624"/>
            <a:ext cx="438912" cy="438912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17" name="Oval 16"/>
          <p:cNvSpPr/>
          <p:nvPr/>
        </p:nvSpPr>
        <p:spPr>
          <a:xfrm>
            <a:off x="4899073" y="2706624"/>
            <a:ext cx="438912" cy="438912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18" name="Oval 17"/>
          <p:cNvSpPr/>
          <p:nvPr/>
        </p:nvSpPr>
        <p:spPr>
          <a:xfrm>
            <a:off x="5391443" y="2706624"/>
            <a:ext cx="438912" cy="438912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9" name="Oval 18"/>
          <p:cNvSpPr/>
          <p:nvPr/>
        </p:nvSpPr>
        <p:spPr>
          <a:xfrm>
            <a:off x="5883812" y="2706624"/>
            <a:ext cx="438912" cy="438912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20" name="Oval 19"/>
          <p:cNvSpPr/>
          <p:nvPr/>
        </p:nvSpPr>
        <p:spPr>
          <a:xfrm>
            <a:off x="6376181" y="2706624"/>
            <a:ext cx="438912" cy="438912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21" name="Oval 20"/>
          <p:cNvSpPr/>
          <p:nvPr/>
        </p:nvSpPr>
        <p:spPr>
          <a:xfrm>
            <a:off x="6868550" y="2706624"/>
            <a:ext cx="438912" cy="438912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22" name="Oval 21"/>
          <p:cNvSpPr/>
          <p:nvPr/>
        </p:nvSpPr>
        <p:spPr>
          <a:xfrm>
            <a:off x="7360920" y="2706624"/>
            <a:ext cx="438912" cy="438912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0" y="2615184"/>
            <a:ext cx="621792" cy="621792"/>
          </a:xfrm>
          <a:prstGeom prst="ellipse">
            <a:avLst/>
          </a:prstGeom>
          <a:solidFill>
            <a:srgbClr val="325336"/>
          </a:solidFill>
          <a:ln>
            <a:solidFill>
              <a:srgbClr val="32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15+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31012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1271E"/>
                </a:solidFill>
                <a:latin typeface="Aptos"/>
              </a:rPr>
              <a:t>Days 1–7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657600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Practice settles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331012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1271E"/>
                </a:solidFill>
                <a:latin typeface="Aptos"/>
              </a:rPr>
              <a:t>Days 8–14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657600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Personal range forms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310128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1271E"/>
                </a:solidFill>
                <a:latin typeface="Aptos"/>
              </a:rPr>
              <a:t>Day 15 onward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8512" y="3657600"/>
            <a:ext cx="2103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Compare against you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343400"/>
            <a:ext cx="3310128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45537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1271E"/>
                </a:solidFill>
                <a:latin typeface="Aptos"/>
              </a:rPr>
              <a:t>Context first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901184"/>
            <a:ext cx="2880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0675C"/>
                </a:solidFill>
                <a:latin typeface="Aptos"/>
              </a:rPr>
              <a:t>Sleep, mood and stress can explain an off day.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343400"/>
            <a:ext cx="3310128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0288" y="45537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1271E"/>
                </a:solidFill>
                <a:latin typeface="Aptos"/>
              </a:rPr>
              <a:t>Conservative patterns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901184"/>
            <a:ext cx="2880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0675C"/>
                </a:solidFill>
                <a:latin typeface="Aptos"/>
              </a:rPr>
              <a:t>Repeated changes matter more than one result.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4343400"/>
            <a:ext cx="3310128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8" y="45537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1271E"/>
                </a:solidFill>
                <a:latin typeface="Aptos"/>
              </a:rPr>
              <a:t>Calibrated language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4901184"/>
            <a:ext cx="2880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0675C"/>
                </a:solidFill>
                <a:latin typeface="Aptos"/>
              </a:rPr>
              <a:t>“Below your usual range” — never a diagnosis.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528816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MindTrace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52881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B744D"/>
                </a:solidFill>
                <a:latin typeface="Aptos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31271E"/>
                </a:solidFill>
                <a:latin typeface="Georgia"/>
              </a:rPr>
              <a:t>A large consumer need with a focused initial segment.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0675C"/>
                </a:solidFill>
                <a:latin typeface="Aptos"/>
              </a:rPr>
              <a:t>Bottom-up US estimates from the attached MindTrace business case.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27080" cy="10972"/>
          </a:xfrm>
          <a:prstGeom prst="rect">
            <a:avLst/>
          </a:prstGeom>
          <a:solidFill>
            <a:srgbClr val="D7CDBC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310128" cy="2148840"/>
          </a:xfrm>
          <a:prstGeom prst="roundRect">
            <a:avLst>
              <a:gd name="adj" fmla="val 12000"/>
            </a:avLst>
          </a:prstGeom>
          <a:solidFill>
            <a:srgbClr val="DBE4D6"/>
          </a:solidFill>
          <a:ln>
            <a:solidFill>
              <a:srgbClr val="DBE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14016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25336"/>
                </a:solidFill>
                <a:latin typeface="Aptos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85292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31271E"/>
                </a:solidFill>
                <a:latin typeface="Georgia"/>
              </a:rPr>
              <a:t>$1.8B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47872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30M concerned adults × $60/year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48840"/>
            <a:ext cx="3310128" cy="2148840"/>
          </a:xfrm>
          <a:prstGeom prst="roundRect">
            <a:avLst>
              <a:gd name="adj" fmla="val 12000"/>
            </a:avLst>
          </a:prstGeom>
          <a:solidFill>
            <a:srgbClr val="E4DCF0"/>
          </a:solidFill>
          <a:ln>
            <a:solidFill>
              <a:srgbClr val="E4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414016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25336"/>
                </a:solidFill>
                <a:latin typeface="Aptos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88920"/>
            <a:ext cx="285292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31271E"/>
                </a:solidFill>
                <a:latin typeface="Georgia"/>
              </a:rPr>
              <a:t>$180M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547872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3.0M able and willing to pay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148840"/>
            <a:ext cx="3310128" cy="2148840"/>
          </a:xfrm>
          <a:prstGeom prst="roundRect">
            <a:avLst>
              <a:gd name="adj" fmla="val 12000"/>
            </a:avLst>
          </a:prstGeom>
          <a:solidFill>
            <a:srgbClr val="E7DCC8"/>
          </a:solidFill>
          <a:ln>
            <a:solidFill>
              <a:srgbClr val="E7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414016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25336"/>
                </a:solidFill>
                <a:latin typeface="Aptos"/>
              </a:rPr>
              <a:t>SOM · Y3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285292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31271E"/>
                </a:solidFill>
                <a:latin typeface="Georgia"/>
              </a:rPr>
              <a:t>$11.0M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547872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150k subscribers + 250 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800600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B744D"/>
                </a:solidFill>
                <a:latin typeface="Aptos"/>
              </a:rPr>
              <a:t>WHO WE START WITH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239512"/>
            <a:ext cx="3246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1271E"/>
                </a:solidFill>
                <a:latin typeface="Aptos"/>
              </a:rPr>
              <a:t>Adults 55–75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577840"/>
            <a:ext cx="3246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The “worried well” with family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5239512"/>
            <a:ext cx="3246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1271E"/>
                </a:solidFill>
                <a:latin typeface="Aptos"/>
              </a:rPr>
              <a:t>Adult children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5577840"/>
            <a:ext cx="3246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Buying reassurance for a parent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5239512"/>
            <a:ext cx="3246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1271E"/>
                </a:solidFill>
                <a:latin typeface="Aptos"/>
              </a:rPr>
              <a:t>Institutions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5577840"/>
            <a:ext cx="3246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Libraries, senior living and senior centres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28816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MindTrace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2881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B744D"/>
                </a:solidFill>
                <a:latin typeface="Aptos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31271E"/>
                </a:solidFill>
                <a:latin typeface="Georgia"/>
              </a:rPr>
              <a:t>Free baseline. Paid value after there is something to show.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0675C"/>
                </a:solidFill>
                <a:latin typeface="Aptos"/>
              </a:rPr>
              <a:t>A hybrid B2C + B2B2C model balances direct demand with trusted distribution.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27080" cy="10972"/>
          </a:xfrm>
          <a:prstGeom prst="rect">
            <a:avLst/>
          </a:prstGeom>
          <a:solidFill>
            <a:srgbClr val="D7CDBC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29968"/>
            <a:ext cx="2487168" cy="2450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67712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B744D"/>
                </a:solidFill>
                <a:latin typeface="Aptos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51760"/>
            <a:ext cx="2148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31271E"/>
                </a:solidFill>
                <a:latin typeface="Georgia"/>
              </a:rP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310128"/>
            <a:ext cx="2103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14-day baseline
30-day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144" y="2029968"/>
            <a:ext cx="2487168" cy="2450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2267712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B744D"/>
                </a:solidFill>
                <a:latin typeface="Aptos"/>
              </a:rPr>
              <a:t>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651760"/>
            <a:ext cx="2148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31271E"/>
                </a:solidFill>
                <a:latin typeface="Georgia"/>
              </a:rPr>
              <a:t>$59.99 / 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3310128"/>
            <a:ext cx="2103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Unlimited history
Trends, flags &amp; export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29968"/>
            <a:ext cx="2487168" cy="2450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67712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B744D"/>
                </a:solidFill>
                <a:latin typeface="Aptos"/>
              </a:rPr>
              <a:t>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2148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31271E"/>
                </a:solidFill>
                <a:latin typeface="Georgia"/>
              </a:rPr>
              <a:t>$99 / 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10128"/>
            <a:ext cx="2103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3 profiles
Consent-based sharing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2029968"/>
            <a:ext cx="2487168" cy="2450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267712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B744D"/>
                </a:solidFill>
                <a:latin typeface="Aptos"/>
              </a:rPr>
              <a:t>INSTITUTION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651760"/>
            <a:ext cx="2148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31271E"/>
                </a:solidFill>
                <a:latin typeface="Georgia"/>
              </a:rPr>
              <a:t>$800–$3,600 / 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3310128"/>
            <a:ext cx="2103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On-site accounts
Training &amp; reporting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" y="4892040"/>
            <a:ext cx="10881360" cy="987552"/>
          </a:xfrm>
          <a:prstGeom prst="roundRect">
            <a:avLst>
              <a:gd name="adj" fmla="val 12000"/>
            </a:avLst>
          </a:prstGeom>
          <a:solidFill>
            <a:srgbClr val="DBE4D6"/>
          </a:solidFill>
          <a:ln>
            <a:solidFill>
              <a:srgbClr val="DBE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02352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25336"/>
                </a:solidFill>
                <a:latin typeface="Aptos"/>
              </a:rPr>
              <a:t>ARPU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010912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31271E"/>
                </a:solidFill>
                <a:latin typeface="Aptos"/>
              </a:rPr>
              <a:t>$54/yr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102352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25336"/>
                </a:solidFill>
                <a:latin typeface="Aptos"/>
              </a:rPr>
              <a:t>Gross 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5010912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31271E"/>
                </a:solidFill>
                <a:latin typeface="Aptos"/>
              </a:rPr>
              <a:t>88%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102352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25336"/>
                </a:solidFill>
                <a:latin typeface="Aptos"/>
              </a:rPr>
              <a:t>LTV / CAC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5010912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31271E"/>
                </a:solidFill>
                <a:latin typeface="Aptos"/>
              </a:rPr>
              <a:t>4.3×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5102352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25336"/>
                </a:solidFill>
                <a:latin typeface="Aptos"/>
              </a:rPr>
              <a:t>Paywall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5010912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31271E"/>
                </a:solidFill>
                <a:latin typeface="Aptos"/>
              </a:rPr>
              <a:t>Day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28816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MindTrace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2881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B744D"/>
                </a:solidFill>
                <a:latin typeface="Aptos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31271E"/>
                </a:solidFill>
                <a:latin typeface="Georgia"/>
              </a:rPr>
              <a:t>Start where trust and routine already exist.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0675C"/>
                </a:solidFill>
                <a:latin typeface="Aptos"/>
              </a:rPr>
              <a:t>Libraries and senior-living communities can lower acquisition cost and help users reach day 15.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27080" cy="10972"/>
          </a:xfrm>
          <a:prstGeom prst="rect">
            <a:avLst/>
          </a:prstGeom>
          <a:solidFill>
            <a:srgbClr val="D7CDBC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75688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B744D"/>
                </a:solidFill>
                <a:latin typeface="Aptos"/>
              </a:rPr>
              <a:t>CHANNEL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685800" cy="685800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532888"/>
            <a:ext cx="3337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1271E"/>
                </a:solidFill>
                <a:latin typeface="Aptos"/>
              </a:rP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880360"/>
            <a:ext cx="3474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0675C"/>
                </a:solidFill>
                <a:latin typeface="Aptos"/>
              </a:rPr>
              <a:t>3 libraries + 2 communities
12 weeks · 20–40 participants each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3749039"/>
            <a:ext cx="685800" cy="685800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3721608"/>
            <a:ext cx="3337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1271E"/>
                </a:solidFill>
                <a:latin typeface="Aptos"/>
              </a:rPr>
              <a:t>Prove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4069080"/>
            <a:ext cx="3474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0675C"/>
                </a:solidFill>
                <a:latin typeface="Aptos"/>
              </a:rPr>
              <a:t>Success: ≥60% reach day 15
≥40% active at week 10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937760"/>
            <a:ext cx="685800" cy="685800"/>
          </a:xfrm>
          <a:prstGeom prst="ellipse">
            <a:avLst/>
          </a:prstGeom>
          <a:solidFill>
            <a:srgbClr val="4B744D"/>
          </a:solidFill>
          <a:ln>
            <a:solidFill>
              <a:srgbClr val="4B7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4910328"/>
            <a:ext cx="3337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1271E"/>
                </a:solidFill>
                <a:latin typeface="Aptos"/>
              </a:rPr>
              <a:t>Scale 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5257800"/>
            <a:ext cx="3474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0675C"/>
                </a:solidFill>
                <a:latin typeface="Aptos"/>
              </a:rPr>
              <a:t>Institutional proof → consumer trust
and repeatable site sales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2057400"/>
            <a:ext cx="5577840" cy="3950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2340864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B744D"/>
                </a:solidFill>
                <a:latin typeface="Aptos"/>
              </a:rPr>
              <a:t>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277063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25336"/>
                </a:solidFill>
                <a:latin typeface="Aptos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752344"/>
            <a:ext cx="16002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1271E"/>
                </a:solidFill>
                <a:latin typeface="Aptos"/>
              </a:rPr>
              <a:t>Working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752344"/>
            <a:ext cx="2304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0675C"/>
                </a:solidFill>
                <a:latin typeface="Aptos"/>
              </a:rPr>
              <a:t>Accounts, persistence, check-ins, games and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3520439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25336"/>
                </a:solidFill>
                <a:latin typeface="Aptos"/>
              </a:rPr>
              <a:t>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502151"/>
            <a:ext cx="16002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1271E"/>
                </a:solidFill>
                <a:latin typeface="Aptos"/>
              </a:rPr>
              <a:t>Demand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502151"/>
            <a:ext cx="2304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0675C"/>
                </a:solidFill>
                <a:latin typeface="Aptos"/>
              </a:rPr>
              <a:t>Interviews + waitlist + retention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427024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25336"/>
                </a:solidFill>
                <a:latin typeface="Aptos"/>
              </a:rPr>
              <a:t>4–8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251960"/>
            <a:ext cx="16002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1271E"/>
                </a:solidFill>
                <a:latin typeface="Aptos"/>
              </a:rPr>
              <a:t>Institution pilots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251960"/>
            <a:ext cx="2304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0675C"/>
                </a:solidFill>
                <a:latin typeface="Aptos"/>
              </a:rPr>
              <a:t>5 sites · 150 participants · 12 weeks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5020056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25336"/>
                </a:solidFill>
                <a:latin typeface="Aptos"/>
              </a:rPr>
              <a:t>6–15 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001768"/>
            <a:ext cx="16002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1271E"/>
                </a:solidFill>
                <a:latin typeface="Aptos"/>
              </a:rPr>
              <a:t>Validate &amp; launch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001768"/>
            <a:ext cx="2304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0675C"/>
                </a:solidFill>
                <a:latin typeface="Aptos"/>
              </a:rPr>
              <a:t>200-person study → first paid contracts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28816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MindTrace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52881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B744D"/>
                </a:solidFill>
                <a:latin typeface="Aptos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143000"/>
            <a:ext cx="106070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500" b="0">
                <a:solidFill>
                  <a:srgbClr val="31271E"/>
                </a:solidFill>
                <a:latin typeface="Georgia"/>
              </a:rPr>
              <a:t>Help us turn a working game
into validated peace of mind.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926080"/>
            <a:ext cx="3310128" cy="1417320"/>
          </a:xfrm>
          <a:prstGeom prst="roundRect">
            <a:avLst>
              <a:gd name="adj" fmla="val 12000"/>
            </a:avLst>
          </a:prstGeom>
          <a:solidFill>
            <a:srgbClr val="DBE4D6"/>
          </a:solidFill>
          <a:ln>
            <a:solidFill>
              <a:srgbClr val="DBE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82112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1271E"/>
                </a:solidFill>
                <a:latin typeface="Aptos"/>
              </a:rPr>
              <a:t>Pilot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47872"/>
            <a:ext cx="2880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Libraries and senior-living communities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2926080"/>
            <a:ext cx="3310128" cy="1417320"/>
          </a:xfrm>
          <a:prstGeom prst="roundRect">
            <a:avLst>
              <a:gd name="adj" fmla="val 12000"/>
            </a:avLst>
          </a:prstGeom>
          <a:solidFill>
            <a:srgbClr val="E4DCF0"/>
          </a:solidFill>
          <a:ln>
            <a:solidFill>
              <a:srgbClr val="E4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3182112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1271E"/>
                </a:solidFill>
                <a:latin typeface="Aptos"/>
              </a:rPr>
              <a:t>Clinical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547872"/>
            <a:ext cx="2880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A neuropsychologist + validation partner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2926080"/>
            <a:ext cx="3310128" cy="1417320"/>
          </a:xfrm>
          <a:prstGeom prst="roundRect">
            <a:avLst>
              <a:gd name="adj" fmla="val 12000"/>
            </a:avLst>
          </a:prstGeom>
          <a:solidFill>
            <a:srgbClr val="E7DCC8"/>
          </a:solidFill>
          <a:ln>
            <a:solidFill>
              <a:srgbClr val="E7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3182112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1271E"/>
                </a:solidFill>
                <a:latin typeface="Aptos"/>
              </a:rPr>
              <a:t>User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547872"/>
            <a:ext cx="2880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70675C"/>
                </a:solidFill>
                <a:latin typeface="Aptos"/>
              </a:rPr>
              <a:t>Adults 55–75 who will complete 14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47488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325336"/>
                </a:solidFill>
                <a:latin typeface="Georgia"/>
              </a:rPr>
              <a:t>“We are not diagnosing anyone.”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522976"/>
            <a:ext cx="9738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31271E"/>
                </a:solidFill>
                <a:latin typeface="Aptos"/>
              </a:rPr>
              <a:t>We are helping people build the evidence to have the right conversation earlier.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0675C"/>
                </a:solidFill>
                <a:latin typeface="Aptos"/>
              </a:rPr>
              <a:t>MindTrace  ·  mindtrace.app  ·  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28816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MindTrace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2881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70675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MindTrace Pitch Deck</dc:title>
  <dc:subject>Product, market and business overview</dc:subject>
  <dc:creator>MindTrace</dc:creator>
  <cp:keywords/>
  <dc:description>Business figures adapted from the supplied MindTrace Business Case deck.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