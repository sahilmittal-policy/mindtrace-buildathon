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E7D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E7D7E"/>
                </a:solidFill>
                <a:latin typeface="Calibri"/>
              </a:rPr>
              <a:t>Revenue by channel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B2C subscriptions</c:v>
                </c:pt>
              </c:strCache>
            </c:strRef>
          </c:tx>
          <c:spPr>
            <a:solidFill>
              <a:srgbClr val="A9C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2.4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Institutional licences</c:v>
                </c:pt>
              </c:strCache>
            </c:strRef>
          </c:tx>
          <c:spPr>
            <a:solidFill>
              <a:srgbClr val="C3BC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0.05</c:v>
                </c:pt>
                <c:pt idx="1">
                  <c:v>0.45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AE8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E3B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grandmother story. Three years of the family noticing something, nobody able to say whether it was real. That gap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existing options all fail the same test. The user is not asking 'do I have dementia' — they are asking 'is this different from me'.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constraints are why the product looks the way it does. Each one maps to a specific design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deliberately. The already-diagnosed are out of scope: the product becomes clinically inadequate and emotionally cruel.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Anxiety about switching, not price, is the binding constraint on conversion. Onboarding copy must reduce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days 8-14 baseline window is the single most important design decision in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order matters. The top pain in each column is the one the product must 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Gain creators sit in the doc; this slide shows pain relievers because pains are what drive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competitor that should worry us is not Lumosity. It is Apple bundling a cognitive check-in into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weakness: no IP in Stroop or a cloze task. The moat is the baseline engine, the data, and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Y3 at 150k users is 5% of SAM and 0.5% of TAM. Deliberately unheroic — a number that survives scrutiny.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Institutional revenue is small on purpose. Its value is distribution and data, not the line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exists primarily to test the 14-day baseline, which is simultaneously the core mechanic and the biggest adoption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canvas in one line: fixed-cost software with near-zero marginal cost, sold twice over the same build — retail to anxious individuals, wholesale to institutions who hand it to the same people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$59.99 may be too low. Willingness to pay to resolve this anxiety is likely higher, but launching cheap and raising is easier than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of done: a judge picks Sam, sees 19 days of history, plays one live session, watches it append, and reads the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ethical rules: never over-claim, never surprise, always offer a proportionate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validation study is the difference between a wellness app and an instrument. Line up a CMU or Pitt collaboration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framing. Tracker, not diagnostic. Evidence for a conversation, not a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5A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280160"/>
            <a:ext cx="5120640" cy="5120640"/>
          </a:xfrm>
          <a:prstGeom prst="ellipse">
            <a:avLst/>
          </a:prstGeom>
          <a:solidFill>
            <a:srgbClr val="2C44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749040"/>
            <a:ext cx="2377440" cy="2377440"/>
          </a:xfrm>
          <a:prstGeom prst="ellipse">
            <a:avLst/>
          </a:prstGeom>
          <a:solidFill>
            <a:srgbClr val="345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1371600"/>
            <a:ext cx="566928" cy="566928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2331720"/>
            <a:ext cx="384048" cy="384048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01400" y="2834640"/>
            <a:ext cx="292608" cy="292608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MindTrace</a:t>
            </a:r>
            <a:endParaRPr lang="en-US" sz="6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five-minute daily cognitive check-in that compares you to you — not to a population average.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· Value proposition · Market · Model · Scope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40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B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149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Adults over 50 notice cognitive changes years before diagnosis, but have no trustworthy way to tell an ordinary bad day from a real, sustained pattern.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3246120" cy="1691640"/>
          </a:xfrm>
          <a:prstGeom prst="roundRect">
            <a:avLst>
              <a:gd name="adj" fmla="val 4865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4133088"/>
            <a:ext cx="274320" cy="27432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4864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people do — for an average of two to three years.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41648" y="3886200"/>
            <a:ext cx="3246120" cy="1691640"/>
          </a:xfrm>
          <a:prstGeom prst="roundRect">
            <a:avLst>
              <a:gd name="adj" fmla="val 4865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4133088"/>
            <a:ext cx="274320" cy="274320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doctor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864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six-minute paper screen built to catch impairment that has already arrived.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34656" y="3886200"/>
            <a:ext cx="3246120" cy="1691640"/>
          </a:xfrm>
          <a:prstGeom prst="roundRect">
            <a:avLst>
              <a:gd name="adj" fmla="val 4865"/>
            </a:avLst>
          </a:prstGeom>
          <a:solidFill>
            <a:srgbClr val="EAE6F2"/>
          </a:solidFill>
          <a:ln w="9525">
            <a:solidFill>
              <a:srgbClr val="EA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0688" y="4133088"/>
            <a:ext cx="274320" cy="274320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90688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brain app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90688" y="4864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engagement, so the score only goes up.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answers the question actually being asked: is this different from how I usually am?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constraints shape the entire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73352"/>
            <a:ext cx="402336" cy="402336"/>
          </a:xfrm>
          <a:prstGeom prst="ellipse">
            <a:avLst/>
          </a:prstGeom>
          <a:solidFill>
            <a:srgbClr val="A9C7B8"/>
          </a:solidFill>
          <a:ln w="12700">
            <a:solidFill>
              <a:srgbClr val="A9C7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91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norms are the wrong instrument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5681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performance varies enormously by education, language and lifelong ability. Comparing a 68-year-old to an average tells them about the average.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645920"/>
            <a:ext cx="4526280" cy="868680"/>
          </a:xfrm>
          <a:prstGeom prst="roundRect">
            <a:avLst>
              <a:gd name="adj" fmla="val 9474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14 sessions of personal baseline before any flag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300984"/>
            <a:ext cx="402336" cy="402336"/>
          </a:xfrm>
          <a:prstGeom prst="ellipse">
            <a:avLst/>
          </a:prstGeom>
          <a:solidFill>
            <a:srgbClr val="AFCBDA"/>
          </a:solidFill>
          <a:ln w="12700">
            <a:solidFill>
              <a:srgbClr val="AFCB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measurements are noise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5844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score means four hours of sleep, or anxiety, or an antihistamine. Signal emerges only across repeated sessions.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273552"/>
            <a:ext cx="4526280" cy="868680"/>
          </a:xfrm>
          <a:prstGeom prst="roundRect">
            <a:avLst>
              <a:gd name="adj" fmla="val 9474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34564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Sleep, mood and stress captured as inputs, not extras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26864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4928616"/>
            <a:ext cx="402336" cy="402336"/>
          </a:xfrm>
          <a:prstGeom prst="ellipse">
            <a:avLst/>
          </a:prstGeom>
          <a:solidFill>
            <a:srgbClr val="EFB9A3"/>
          </a:solidFill>
          <a:ln w="12700">
            <a:solidFill>
              <a:srgbClr val="EFB9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wrong is costly both ways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2120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alarm harms an anxious 70-year-old. False reassurance delays care during the window that matters.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901184"/>
            <a:ext cx="4526280" cy="868680"/>
          </a:xfrm>
          <a:prstGeom prst="roundRect">
            <a:avLst>
              <a:gd name="adj" fmla="val 9474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50840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Calibrated language; a tracker, never a diagnostic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exact end user: “The Noticer”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920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DCEA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Margaret, 64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school administrator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6060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developed Alzheimer's at 76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last week she walked into a room and could not remember why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Googled “early signs of dementia” at 11pm, then closed the tab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told nobody — not her husband, not her doctor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5806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53328" y="1627632"/>
            <a:ext cx="182880" cy="18288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472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Noticer · 55–75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728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well, family history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12680" y="15910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here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176272"/>
            <a:ext cx="5806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2432304"/>
            <a:ext cx="182880" cy="182880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276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· 50–65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32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tracks sleep and steps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12680" y="2395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2980944"/>
            <a:ext cx="5806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3236976"/>
            <a:ext cx="182880" cy="182880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081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Monitored · 75+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337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child is the buyer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12680" y="3200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785616"/>
            <a:ext cx="5806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4041648"/>
            <a:ext cx="182880" cy="182880"/>
          </a:xfrm>
          <a:prstGeom prst="ellipse">
            <a:avLst/>
          </a:prstGeom>
          <a:solidFill>
            <a:srgbClr val="E4EE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patients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Post-stroke, post-chemo, long COVID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012680" y="40050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4590288"/>
            <a:ext cx="5806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53328" y="4846320"/>
            <a:ext cx="182880" cy="18288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55080" y="4690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diagnosed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4946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care management, not tracking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012680" y="48097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B2B2C channel the end user is still Margaret — the buyer is a librarian or an activities director, with a different job entirely.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she is actually hiring us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3D5A59"/>
          </a:solidFill>
          <a:ln w="9525">
            <a:solidFill>
              <a:srgbClr val="3D5A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I notice myself forgetting things and I don’t know whether it’s normal ageing or something starting, help me find out without telling anyone — so I can stop the worry, or act early.”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4564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761488"/>
            <a:ext cx="237744" cy="237744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724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54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genuine change before it becomes obvious to others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4005072"/>
            <a:ext cx="2880360" cy="685800"/>
          </a:xfrm>
          <a:prstGeom prst="roundRect">
            <a:avLst>
              <a:gd name="adj" fmla="val 12000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baseline · repeated measurement · sensitivity to change, not level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2514600"/>
            <a:ext cx="34564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2761488"/>
            <a:ext cx="237744" cy="237744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724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3154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vague dread into something I stop worrying about, or can act 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44568" y="4005072"/>
            <a:ext cx="2880360" cy="685800"/>
          </a:xfrm>
          <a:prstGeom prst="roundRect">
            <a:avLst>
              <a:gd name="adj" fmla="val 12000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verdicts · no scary vocabulary · visible “you are fine” states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2514600"/>
            <a:ext cx="34564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7888" y="2761488"/>
            <a:ext cx="237744" cy="237744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2724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3154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evidence when I raise it with my doctor, so I’m not dismissed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47888" y="4005072"/>
            <a:ext cx="2880360" cy="685800"/>
          </a:xfrm>
          <a:prstGeom prst="roundRect">
            <a:avLst>
              <a:gd name="adj" fmla="val 12000"/>
            </a:avLst>
          </a:prstGeom>
          <a:solidFill>
            <a:srgbClr val="EAE6F2"/>
          </a:solidFill>
          <a:ln w="9525">
            <a:solidFill>
              <a:srgbClr val="EAE6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trend · dated history · clinician-legible summary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job outranks the functional one. She is not buying an instrument — she is buying relief from an unresolved worry. That makes reassurance the default output and privacy a feature, not a policy.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competitive set, by volume: doing nothing · asking a spouse · googling symptoms · booking a GP visit · brain-training apps.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session a day, compared against your own stabilised baseline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38528" cy="1600200"/>
          </a:xfrm>
          <a:prstGeom prst="roundRect">
            <a:avLst>
              <a:gd name="adj" fmla="val 5143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mood, stress,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caffeine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6896" y="2139696"/>
            <a:ext cx="146304" cy="146304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1488" y="1417320"/>
            <a:ext cx="1938528" cy="1600200"/>
          </a:xfrm>
          <a:prstGeom prst="roundRect">
            <a:avLst>
              <a:gd name="adj" fmla="val 5143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44368" y="16002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games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44368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· Stroop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Memory · WordFit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39696"/>
            <a:ext cx="146304" cy="146304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74336" y="1417320"/>
            <a:ext cx="1938528" cy="1600200"/>
          </a:xfrm>
          <a:prstGeom prst="roundRect">
            <a:avLst>
              <a:gd name="adj" fmla="val 5143"/>
            </a:avLst>
          </a:prstGeom>
          <a:solidFill>
            <a:srgbClr val="EAE6F2"/>
          </a:solidFill>
          <a:ln w="9525">
            <a:solidFill>
              <a:srgbClr val="EAE6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16002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scores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Reaction, attention,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language 0–100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22592" y="2139696"/>
            <a:ext cx="146304" cy="146304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184" y="1417320"/>
            <a:ext cx="1938528" cy="1600200"/>
          </a:xfrm>
          <a:prstGeom prst="roundRect">
            <a:avLst>
              <a:gd name="adj" fmla="val 5143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0064" y="16002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70064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your own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8–14 range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139696"/>
            <a:ext cx="146304" cy="146304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0032" y="1417320"/>
            <a:ext cx="1938528" cy="1600200"/>
          </a:xfrm>
          <a:prstGeom prst="roundRect">
            <a:avLst>
              <a:gd name="adj" fmla="val 5143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82912" y="16002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verdict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82912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range · note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pattern flag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3520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1–14 · Baseline building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388620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flags, no verdicts. The usual range is taken from days 8–14 only — after the practice-effect curve flattens. Using all 14 days would dilute every later alert.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32918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520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15+ · Active tracking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88620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flag requires the composite to sit below the usual range in 2 of the last 3 sessions. Deliberately conservative — rare flags are the ones people believe.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length 4–6 minutes. Everything the user sees is phrased as “below your usual range” — never “decline”, never a risk score.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CANVAS ·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profile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237744" cy="237744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574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whether the changes are real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 without repeated doctor visits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background worry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I’m doing something, not waiting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evidence a doctor takes seriously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being seen as declining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1600200"/>
            <a:ext cx="237744" cy="237744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74336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05740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a bad day from a trend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tests are gated and detect late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what a test would reveal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built for 25-year-olds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scores that always improve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want data sold or seen by insurers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dismissed as “just normal ageing”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0728" y="13258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600200"/>
            <a:ext cx="237744" cy="237744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69096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0574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reassurance on ordinary days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with time to act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record for the clinic visit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minutes, not an afternoon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Respectful, not infantilising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over an uncontrollable fear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0853928" cy="1600200"/>
          </a:xfrm>
          <a:prstGeom prst="roundRect">
            <a:avLst>
              <a:gd name="adj" fmla="val 5143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assessment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5604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on the two pains nobody else addresses: separating signal from noise via a personal baseline, and saying something true without being frightening. Weak fit, honestly, on the social job — a consumer app’s export carries limited weight in a clinical conversation until the instrument has published validity evidence. That gap defines the research roadmap.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CANVAS ·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map: what kills which pain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98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reliever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20840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which pain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7607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37944"/>
            <a:ext cx="182880" cy="18288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174650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14-session personal baseline; compared to self, never to a norm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82512" y="1874520"/>
            <a:ext cx="118872" cy="118872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627632"/>
            <a:ext cx="4983480" cy="603504"/>
          </a:xfrm>
          <a:prstGeom prst="roundRect">
            <a:avLst>
              <a:gd name="adj" fmla="val 13636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7465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a bad day from a trend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40864"/>
            <a:ext cx="57607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551176"/>
            <a:ext cx="182880" cy="182880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8992" y="24597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measurement at home for the price of one co-pay a year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82512" y="2587752"/>
            <a:ext cx="118872" cy="118872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2340864"/>
            <a:ext cx="4983480" cy="603504"/>
          </a:xfrm>
          <a:prstGeom prst="roundRect">
            <a:avLst>
              <a:gd name="adj" fmla="val 13636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24597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tests gated and infrequent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54096"/>
            <a:ext cx="57607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264408"/>
            <a:ext cx="182880" cy="18288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8992" y="31729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Non-diagnostic language; no risk scores; explicit “cannot diagnose”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82512" y="3300984"/>
            <a:ext cx="118872" cy="118872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3054096"/>
            <a:ext cx="4983480" cy="603504"/>
          </a:xfrm>
          <a:prstGeom prst="roundRect">
            <a:avLst>
              <a:gd name="adj" fmla="val 13636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3172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what a test would reveal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57607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977640"/>
            <a:ext cx="182880" cy="182880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78992" y="38862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Senior-first UI: larger type, high contrast, one action per screen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82512" y="4014216"/>
            <a:ext cx="118872" cy="118872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3767328"/>
            <a:ext cx="4983480" cy="603504"/>
          </a:xfrm>
          <a:prstGeom prst="roundRect">
            <a:avLst>
              <a:gd name="adj" fmla="val 13636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built for a 30-year-old thumb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57607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690872"/>
            <a:ext cx="182880" cy="18288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78992" y="45994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drawn from stabilised days 8–14, after practice flattens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82512" y="4727448"/>
            <a:ext cx="118872" cy="118872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4480560"/>
            <a:ext cx="4983480" cy="603504"/>
          </a:xfrm>
          <a:prstGeom prst="roundRect">
            <a:avLst>
              <a:gd name="adj" fmla="val 13636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599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that rise with practice and mean nothing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193792"/>
            <a:ext cx="57607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404104"/>
            <a:ext cx="182880" cy="182880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78992" y="5312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storage, no ad tech, explicit export consent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82512" y="5440680"/>
            <a:ext cx="118872" cy="118872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5193792"/>
            <a:ext cx="4983480" cy="603504"/>
          </a:xfrm>
          <a:prstGeom prst="roundRect">
            <a:avLst>
              <a:gd name="adj" fmla="val 13636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0" y="5312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fear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gap: the social job — a consumer export carries limited clinical weight until validation evidence exists.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camps, and a gap between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922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1600200"/>
            <a:ext cx="0" cy="3657600"/>
          </a:xfrm>
          <a:prstGeom prst="line">
            <a:avLst/>
          </a:prstGeom>
          <a:noFill/>
          <a:ln w="12700">
            <a:solidFill>
              <a:srgbClr val="D6DE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429000"/>
            <a:ext cx="6035040" cy="0"/>
          </a:xfrm>
          <a:prstGeom prst="line">
            <a:avLst/>
          </a:prstGeom>
          <a:noFill/>
          <a:ln w="12700">
            <a:solidFill>
              <a:srgbClr val="D6DE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44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real change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193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nothing meaningful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83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only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3483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Consumer-accessible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2240280"/>
            <a:ext cx="173736" cy="173736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37944" y="21945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Health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88720" y="2788920"/>
            <a:ext cx="173736" cy="173736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26464" y="27432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2606040"/>
            <a:ext cx="173736" cy="173736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23744" y="2560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BrainCheck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" y="1920240"/>
            <a:ext cx="173736" cy="173736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9304" y="1874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CANTAB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14600" y="3200400"/>
            <a:ext cx="173736" cy="173736"/>
          </a:xfrm>
          <a:prstGeom prst="ellipse">
            <a:avLst/>
          </a:prstGeom>
          <a:solidFill>
            <a:srgbClr val="C9D2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52344" y="31546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 / MMSE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4617720"/>
            <a:ext cx="173736" cy="173736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86984" y="4572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Lumosity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4251960"/>
            <a:ext cx="173736" cy="173736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01184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BrainHQ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886200"/>
            <a:ext cx="173736" cy="173736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81144" y="3840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5029200"/>
            <a:ext cx="173736" cy="173736"/>
          </a:xfrm>
          <a:prstGeom prst="ellipse">
            <a:avLst/>
          </a:prstGeom>
          <a:solidFill>
            <a:srgbClr val="C9D2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98464" y="4983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nothing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121408"/>
            <a:ext cx="310896" cy="310896"/>
          </a:xfrm>
          <a:prstGeom prst="ellipse">
            <a:avLst/>
          </a:prstGeom>
          <a:solidFill>
            <a:srgbClr val="EFB9A3"/>
          </a:solidFill>
          <a:ln w="15875">
            <a:solidFill>
              <a:srgbClr val="3D5A5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02352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MindTrace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1371600"/>
            <a:ext cx="4224528" cy="1243584"/>
          </a:xfrm>
          <a:prstGeom prst="roundRect">
            <a:avLst>
              <a:gd name="adj" fmla="val 6618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62672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A · Clinical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662672" y="18288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often FDA-cleared, genuinely good. Sold to health systems and pharma. A worried person cannot buy any of it, and it measures at a visit, not daily.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06640" y="2798064"/>
            <a:ext cx="4224528" cy="1243584"/>
          </a:xfrm>
          <a:prstGeom prst="roundRect">
            <a:avLst>
              <a:gd name="adj" fmla="val 6618"/>
            </a:avLst>
          </a:prstGeom>
          <a:solidFill>
            <a:srgbClr val="EAE6F2"/>
          </a:solidFill>
          <a:ln w="9525">
            <a:solidFill>
              <a:srgbClr val="EAE6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62672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B · Brain training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662672" y="325526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engaging. Measures improvement on its own games — the score rises because you practised. Lumos Labs settled with the FTC in 2016 over decline-prevention claims.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06640" y="4224528"/>
            <a:ext cx="4224528" cy="1243584"/>
          </a:xfrm>
          <a:prstGeom prst="roundRect">
            <a:avLst>
              <a:gd name="adj" fmla="val 6618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62672" y="4361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662672" y="468172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Consumer-accessible change detection against a personal baseline. Nobody occupies it, and Camp B structurally cannot: their retention needs the line to go up.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wedge, and what compounds behind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3D5A59"/>
          </a:solidFill>
          <a:ln w="9525">
            <a:solidFill>
              <a:srgbClr val="3D5A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4475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tells you how you compare to other people, or to yesterday’s practice. We tell you how you compare to you, after the practice effect has flattened.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596896"/>
            <a:ext cx="219456" cy="219456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3856" y="25511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Baseline-relative scoring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8986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range from stabilised days 8–14, not days 1–14. Small decision, large consequence.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2395728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2596896"/>
            <a:ext cx="219456" cy="219456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65976" y="25511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flagging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65976" y="28986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the last 3 sessions below range. An engagement-optimised competitor won’t adopt a rule that reduces notifications.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895344"/>
            <a:ext cx="219456" cy="219456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33856" y="38496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language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419709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us on the safe side of a regulatory line Camp A has crossed and Camp B is barred from approaching.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3694176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3895344"/>
            <a:ext cx="219456" cy="219456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65976" y="38496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Senior-first design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65976" y="419709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— but incumbents won’t, because their existing users would revolt at the redesign.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switching cost is the real defence.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0468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60 days the baseline lives inside MindTrace. Leaving means starting a fresh two-week blackout somewhere else. That lock-in falls out of the product mechanic rather than a retention trick — and the games themselves, being public-domain paradigms, are not the moat.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bottom-up, US primary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DCEA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72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adults 50+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270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DCEA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31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or tablet users · 85%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854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4434840" cy="548640"/>
          </a:xfrm>
          <a:prstGeom prst="roundRect">
            <a:avLst>
              <a:gd name="adj" fmla="val 10000"/>
            </a:avLst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8895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memory concern · 30%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8437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547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pay for a health app · 25%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5021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enough to act now · 40%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160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1664208" cy="1828800"/>
          </a:xfrm>
          <a:prstGeom prst="roundRect">
            <a:avLst>
              <a:gd name="adj" fmla="val 4945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8653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$1.8bn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 concerned adults × $60/yr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19872" y="1417320"/>
            <a:ext cx="1664208" cy="1828800"/>
          </a:xfrm>
          <a:prstGeom prst="roundRect">
            <a:avLst>
              <a:gd name="adj" fmla="val 4945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02752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18653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3.0M able and willing to pay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30384" y="1417320"/>
            <a:ext cx="1664208" cy="1828800"/>
          </a:xfrm>
          <a:prstGeom prst="roundRect">
            <a:avLst>
              <a:gd name="adj" fmla="val 4945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13264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· Y3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113264" y="18653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$11.0M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113264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subscribers + 250 sites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3429000"/>
            <a:ext cx="532180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TAM · US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38587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~17,000 public library outlets · ~30,000 assisted living communities · ~15,000 skilled nursing facilities · ~11,000 senior centres  →  ~$53M at $1,200–$2,400 per site per year.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4846320"/>
            <a:ext cx="532180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secondary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527608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~150M aged 60+; ~4.5M concerned urban smartphone users → ~$54M at ₹999/yr. Stronger as B2B2C than B2C: stigma is high, out-of-pocket health spend is low.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category estimates range from ~$1bn to ~$10bn for 2026 depending on the analyst; bottom-up numbers avoid that argument entirely.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Three-year obtainable share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54480"/>
            <a:ext cx="404164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682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paying users · 10 pilot sites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149840" y="18105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$0.35M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589520" y="2606040"/>
            <a:ext cx="404164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2734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paying users · 60 sites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149840" y="28620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$2.85M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9520" y="3657600"/>
            <a:ext cx="404164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3785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 paying users · 250 sites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149840" y="3913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$11.0M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589520" y="4754880"/>
            <a:ext cx="4041648" cy="1005840"/>
          </a:xfrm>
          <a:prstGeom prst="roundRect">
            <a:avLst>
              <a:gd name="adj" fmla="val 8182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18120" y="495604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is 5% of SAM and 0.5% of TAM — a number chosen to survive due diligence rather than to impress in a pitch.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B2B2C: libraries and senior living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630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MindTrace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31720" y="1691640"/>
            <a:ext cx="128016" cy="128016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24328" y="14630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or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living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128016" cy="128016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14630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or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128016" cy="128016"/>
          </a:xfrm>
          <a:prstGeom prst="ellipse">
            <a:avLst/>
          </a:prstGeom>
          <a:solidFill>
            <a:srgbClr val="6E7D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6248" y="14630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data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reporting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14813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Zero-CAC users, a longitudinal dataset, and institutional credibility a consumer brand would otherwise have to buy.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34747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606040"/>
            <a:ext cx="219456" cy="219456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33856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libraries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29443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services librarian signs; branch manager approves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49300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~17,000 outlets; ~6,000 with senior programming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$500–$5,000/branch programming budget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cycles, decided in spring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 Brain Health Hour — not screening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2377440"/>
            <a:ext cx="34747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7992" y="2606040"/>
            <a:ext cx="219456" cy="219456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37176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living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07992" y="29443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Life-enrichment director; DoN for skilled nursing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07992" y="349300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~30,000 assisted living communities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$10k–$50k/community wellness budget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 can often approve directly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signal for care-level planning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55280" y="2377440"/>
            <a:ext cx="3675888" cy="2788920"/>
          </a:xfrm>
          <a:prstGeom prst="roundRect">
            <a:avLst>
              <a:gd name="adj" fmla="val 2951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1312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consent problem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11312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institution the resident is not the buyer. Three non-negotiables: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11312" y="3493008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sees their own results first, always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 participation; cognitive detail only with separate, revocable consent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flag reaches staff or family before the resident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5046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3 libraries + 2 communities · 12 weeks · 20–40 participants each · free for data rights and a reference. Success: ≥60% reach day 15, ≥40% active at week 10. Kill criterion: &lt;30% reach day 15 — the baseline is too long and the mechanic needs redesign.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B2C + B2B2C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548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from individuals · site licences from institutions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2159813" cy="3794760"/>
          </a:xfrm>
          <a:prstGeom prst="roundRect">
            <a:avLst>
              <a:gd name="adj" fmla="val 3810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133856"/>
            <a:ext cx="18854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KEY PARTNERS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08176"/>
            <a:ext cx="1885493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library systems — distribution, trust, space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Senior-living operators — dense user populations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neuropsych lab — validation, credibility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Alzheimer’s Association chapters — referral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plans (later) — reimbursed scale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81605" y="1024128"/>
            <a:ext cx="2159813" cy="1860804"/>
          </a:xfrm>
          <a:prstGeom prst="roundRect">
            <a:avLst>
              <a:gd name="adj" fmla="val 4423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8765" y="1133856"/>
            <a:ext cx="18854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KEY ACTIVITIES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18765" y="1408176"/>
            <a:ext cx="1885493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 and recalibration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generation at scale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research vs MoCA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Senior-first UX with real 65+ testers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sales and enablement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outside device classification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1605" y="2958084"/>
            <a:ext cx="2159813" cy="1860804"/>
          </a:xfrm>
          <a:prstGeom prst="roundRect">
            <a:avLst>
              <a:gd name="adj" fmla="val 4423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8765" y="3067812"/>
            <a:ext cx="18854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KEY RESOURCES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918765" y="3342132"/>
            <a:ext cx="1885493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and flagging engine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cognitive panel — unbuyable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task battery + stimulus pools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advisory board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calibrated language layer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reference accounts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14570" y="1024128"/>
            <a:ext cx="2159813" cy="3794760"/>
          </a:xfrm>
          <a:prstGeom prst="roundRect">
            <a:avLst>
              <a:gd name="adj" fmla="val 3810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51730" y="1133856"/>
            <a:ext cx="18854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VALUE PROPOSITIONS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151730" y="1408176"/>
            <a:ext cx="1885493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know whether it’s real, in five minutes a day, privately, for less than a co-pay a year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child: a dated record, so the conversation isn’t a fight about anecdotes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Librarian: turnkey senior programming with funder-ready attendance data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Operator: wellness differentiation and early signal for care-level planning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(later): a longitudinal record instead of “I think I’ve got worse”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47534" y="1024128"/>
            <a:ext cx="2159813" cy="1860804"/>
          </a:xfrm>
          <a:prstGeom prst="roundRect">
            <a:avLst>
              <a:gd name="adj" fmla="val 4423"/>
            </a:avLst>
          </a:prstGeom>
          <a:solidFill>
            <a:srgbClr val="EAE6F2"/>
          </a:solidFill>
          <a:ln w="9525">
            <a:solidFill>
              <a:srgbClr val="EA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84694" y="1133856"/>
            <a:ext cx="18854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CUSTOMER RELATIONSHIPS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84694" y="1408176"/>
            <a:ext cx="1885493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onboarding; 14 days framed as setup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notification a day, user-chosen time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support, not chat — non-negotiable here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 + quarterly reports for institutions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47534" y="2958084"/>
            <a:ext cx="2159813" cy="1860804"/>
          </a:xfrm>
          <a:prstGeom prst="roundRect">
            <a:avLst>
              <a:gd name="adj" fmla="val 4423"/>
            </a:avLst>
          </a:prstGeom>
          <a:solidFill>
            <a:srgbClr val="EAE6F2"/>
          </a:solidFill>
          <a:ln w="9525">
            <a:solidFill>
              <a:srgbClr val="EAE6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4694" y="3067812"/>
            <a:ext cx="18854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CHANNELS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84694" y="3342132"/>
            <a:ext cx="1885493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stores, iOS first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on the real queries people type at 11pm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conferences and consortium deals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Activities-director networks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Memory-clinic referral for “come back in six months”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480499" y="1024128"/>
            <a:ext cx="2159813" cy="3794760"/>
          </a:xfrm>
          <a:prstGeom prst="roundRect">
            <a:avLst>
              <a:gd name="adj" fmla="val 3810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17659" y="1133856"/>
            <a:ext cx="18854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CUSTOMER SEGMENTS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617659" y="1408176"/>
            <a:ext cx="1885493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primary: worried-well adults 55–75 with family history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secondary: adult children 45–60 buying for a parent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B2B2C: public library systems, assisted and independent living, senior centres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B2B: primary care, Medicare Advantage, pharma prevention trials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anyone already diagnosed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55092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001768"/>
            <a:ext cx="5234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COST STRUCTURE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276088"/>
            <a:ext cx="5234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2 FTE $280k · clinical advisory $40k · institutional sales $120k (Y2) · validation study $150k one-off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hosting $0.40 · AI scoring $0.15 · phone support $3.50 per user per year · CAC $25–$40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fixed, near-zero marginal → ~88% gross margin, and entirely dependent on retention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31052" y="4892040"/>
            <a:ext cx="55092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8212" y="5001768"/>
            <a:ext cx="5234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REVENUE STREAMS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268212" y="5276088"/>
            <a:ext cx="5234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$7.99/mo or $59.99/yr · Family $99/yr for 3 profiles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site licence $800–$2,000/yr · senior-living licence $1,800–$3,600/yr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44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clinician export, and opt-in anonymised research cohorts — opt-in or the privacy proposition collapses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Pricing, and the number that decides everything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922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battery, 14-day baseline, 30-day history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137160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A9C7B8"/>
          </a:solidFill>
          <a:ln w="9525">
            <a:solidFill>
              <a:srgbClr val="A9C7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7922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$59.99/yr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history, domain trends, flagging, export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37160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1072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7922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$99/yr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profiles, caregiver view with per-profile consent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0536" y="137160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EAE6F2"/>
          </a:solidFill>
          <a:ln w="9525">
            <a:solidFill>
              <a:srgbClr val="EAE6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61704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17922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$800–$3,600/yr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061704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on-site accounts, staff dashboard, training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3D5A59"/>
          </a:solidFill>
          <a:ln w="9525">
            <a:solidFill>
              <a:srgbClr val="3D5A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paywall goes at day 15, not day 1.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6118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day 15 there is nothing to sell — no verdicts exist. Charging earlier sells a promise; charging after sells a result.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315968"/>
            <a:ext cx="1691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4074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6268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$54/yr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2377440" y="4315968"/>
            <a:ext cx="1691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42032" y="44074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542032" y="46268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06240" y="4315968"/>
            <a:ext cx="1691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70832" y="44074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370832" y="46268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48640" y="5184648"/>
            <a:ext cx="1691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" y="5276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5495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$138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2377440" y="5184648"/>
            <a:ext cx="1691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42032" y="5276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542032" y="5495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4206240" y="5184648"/>
            <a:ext cx="1691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70832" y="5276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370832" y="5495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4.3×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172200" y="3154680"/>
            <a:ext cx="5458968" cy="2926080"/>
          </a:xfrm>
          <a:prstGeom prst="roundRect">
            <a:avLst>
              <a:gd name="adj" fmla="val 2813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4652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the whole business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35% annual churn the model works. At 55% — entirely plausible for a daily-habit health app aimed at older adults — lifetime falls to 1.8 years, LTV to $86, and LTV/CAC to 2.7×. That is not fundable.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46520" y="46177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is the retention mechanic — quitting forfeits it. Surface it: “you have 47 days of history”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users churn less; attendance is scaffolded by staff and a calendar slot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support is expensive per user and the largest retention lever in this demographic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workflow, built in the right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3D5A59"/>
          </a:solidFill>
          <a:ln w="9525">
            <a:solidFill>
              <a:srgbClr val="3D5A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4475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 →  four games  →  scored session  →  dashboard showing today against a personal baseline, with a plain-language verdict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BE7DE"/>
          </a:solidFill>
          <a:ln w="9525">
            <a:solidFill>
              <a:srgbClr val="FB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that changes the build order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346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demo’s value lives at day 20, not day 1. A judge watching a fresh user finish session 1 sees four small games and a blank chart. So ship the synthetic data and dashboard first, then the live games — not the other way round.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359152"/>
            <a:ext cx="5458968" cy="384048"/>
          </a:xfrm>
          <a:prstGeom prst="roundRect">
            <a:avLst>
              <a:gd name="adj" fmla="val 21429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432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432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+ synthetic 5 users × 20 sessions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4323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816352"/>
            <a:ext cx="5458968" cy="384048"/>
          </a:xfrm>
          <a:prstGeom prst="roundRect">
            <a:avLst>
              <a:gd name="adj" fmla="val 21429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889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889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baseline, flagging logic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3273552"/>
            <a:ext cx="5458968" cy="384048"/>
          </a:xfrm>
          <a:prstGeom prst="roundRect">
            <a:avLst>
              <a:gd name="adj" fmla="val 21429"/>
            </a:avLst>
          </a:prstGeom>
          <a:solidFill>
            <a:srgbClr val="DCEAE2"/>
          </a:solidFill>
          <a:ln w="9525">
            <a:solidFill>
              <a:srgbClr val="DCEA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346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346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trend, baseline band, verdict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0" y="3346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730752"/>
            <a:ext cx="545896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8039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 form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0" y="38039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4187952"/>
            <a:ext cx="545896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261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261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1–2: Conditional Reaction, Stroop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0" y="4261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4645152"/>
            <a:ext cx="545896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4718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718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3: Grid Memory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47183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if late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5102352"/>
            <a:ext cx="545896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5175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5175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4: WordFit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0" y="5175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if late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5559552"/>
            <a:ext cx="545896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5080" y="5632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4:20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5632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+ rehearsal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0" y="5632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always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scope, and defensible in Q&amp;A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446227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real persistence, mobile layout, AI semantic scoring for WordFit, caregiver view, notifications, animations, sound. None of them changes what a judge sees.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230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technical traps on Replit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5532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reruns the script on every interaction — all game state must live in session_state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times measured server-side are mostly network latency; don’t claim millisecond precision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sink this, and what we do about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554480"/>
            <a:ext cx="182880" cy="18288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a medical device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4996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7922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inside the general wellness exemption: no diagnosis, no risk score, no disease named. Audit every string.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554480"/>
            <a:ext cx="182880" cy="18288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2824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frightens someone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14996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92824" y="17922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2-of-3 rule · context shown first · benign explanations paired with every flag · a route to a human.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450592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633472"/>
            <a:ext cx="182880" cy="18288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0704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quit before day 15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578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28712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until day 15 · progress framing · institutional scaffolding · explicit pilot kill-criterion.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2450592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2633472"/>
            <a:ext cx="182880" cy="182880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92824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noise, not signal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2578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92824" y="28712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MoCA and clinician judgement. If reliability is poor, fix the tasks — not the marketing.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29584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3712464"/>
            <a:ext cx="182880" cy="182880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0704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effects mimic improvement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from days 8–14 · large non-repeating stimulus pools · monitor for improvement past day 14.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3529584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0216" y="3712464"/>
            <a:ext cx="182880" cy="182880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92824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of cognitive health data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592824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· encrypted at rest · explicit export consent · no analytics SDKs · no ad tech, ever.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608576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4791456"/>
            <a:ext cx="182880" cy="182880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0704" y="4718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presenting as impairment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709160" y="4736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060704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is already captured — flag low mood as the alternative explanation before anything else.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4608576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0216" y="4791456"/>
            <a:ext cx="182880" cy="182880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92824" y="4718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bundles a free equivalent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4736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592824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into institutions · build validation a platform won’t · own the clinical relationship.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71500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3D5A59"/>
          </a:solidFill>
          <a:ln w="9525">
            <a:solidFill>
              <a:srgbClr val="3D5A5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4400" y="58155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MindTrace reports what your performance has done relative to your own history. It never reports what that means about your brain — and the second statement is what makes something a medical device.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3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to something real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8448" y="1417320"/>
            <a:ext cx="274320" cy="27432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554480"/>
            <a:ext cx="1188720" cy="0"/>
          </a:xfrm>
          <a:prstGeom prst="line">
            <a:avLst/>
          </a:prstGeom>
          <a:noFill/>
          <a:ln w="19050">
            <a:solidFill>
              <a:srgbClr val="D6DE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2677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demand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waitlist signups from $200 of ads; 15 interviews with 55+ adults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11296" y="1417320"/>
            <a:ext cx="274320" cy="274320"/>
          </a:xfrm>
          <a:prstGeom prst="ellipse">
            <a:avLst/>
          </a:prstGeom>
          <a:solidFill>
            <a:srgbClr val="A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85616" y="1554480"/>
            <a:ext cx="1188720" cy="0"/>
          </a:xfrm>
          <a:prstGeom prst="line">
            <a:avLst/>
          </a:prstGeom>
          <a:noFill/>
          <a:ln w="19050">
            <a:solidFill>
              <a:srgbClr val="D6DE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87452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2677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persistence, mobile. 50 real users reach day 15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24144" y="1417320"/>
            <a:ext cx="274320" cy="274320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1554480"/>
            <a:ext cx="1188720" cy="0"/>
          </a:xfrm>
          <a:prstGeom prst="line">
            <a:avLst/>
          </a:prstGeom>
          <a:noFill/>
          <a:ln w="19050">
            <a:solidFill>
              <a:srgbClr val="D6DE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74336" y="187452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38928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2677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pilots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138928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sites, 150 participants, 12 weeks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36992" y="1417320"/>
            <a:ext cx="274320" cy="27432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1554480"/>
            <a:ext cx="1188720" cy="0"/>
          </a:xfrm>
          <a:prstGeom prst="line">
            <a:avLst/>
          </a:prstGeom>
          <a:noFill/>
          <a:ln w="19050">
            <a:solidFill>
              <a:srgbClr val="D6DE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87184" y="187452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51776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351776" y="22677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study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351776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200-person cohort vs MoCA and clinician judgement, IRB-approved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49840" y="1417320"/>
            <a:ext cx="274320" cy="27432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0032" y="187452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64624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9–15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564624" y="22677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launch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564624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5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subscribers; first paid institutional contracts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605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5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things that must be true — in order of how likely they are to be false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4526280"/>
            <a:ext cx="274320" cy="27432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EFB9A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45445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will complete 14 days before getting anything. The largest risk; test it in the pilot.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928616"/>
            <a:ext cx="274320" cy="27432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EFB9A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60120" y="494690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five-minute games have enough test-retest reliability to detect meaningful change.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330952"/>
            <a:ext cx="274320" cy="27432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A9C7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5330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60120" y="5349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30% of over-50s have enough concern to act. Drives the whole TAM; testable for $200.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66928" y="5733288"/>
            <a:ext cx="274320" cy="27432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A9C7B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" y="5733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60120" y="575157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will pay rather than expect free. Some systems have real budgets; many will want a grant first.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6135624"/>
            <a:ext cx="274320" cy="27432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A9C7B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6928" y="6135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60120" y="61539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holds near 35% annual churn. Unknowable until month nine, and it decides everything.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D5A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937760" cy="4937760"/>
          </a:xfrm>
          <a:prstGeom prst="ellipse">
            <a:avLst/>
          </a:prstGeom>
          <a:solidFill>
            <a:srgbClr val="2C44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937760"/>
            <a:ext cx="457200" cy="45720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5760720"/>
            <a:ext cx="292608" cy="292608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diagnosing anyone.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A9C7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giving people the evidence to have a conversation two years earlier than they otherwise would.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897880" y="4059936"/>
            <a:ext cx="182880" cy="182880"/>
          </a:xfrm>
          <a:prstGeom prst="ellipse">
            <a:avLst/>
          </a:prstGeom>
          <a:solidFill>
            <a:srgbClr val="A9C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demo moment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4224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versus Priya — similar dips, one flagged, one explained by sleep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4901184"/>
            <a:ext cx="182880" cy="182880"/>
          </a:xfrm>
          <a:prstGeom prst="ellipse">
            <a:avLst/>
          </a:prstGeom>
          <a:solidFill>
            <a:srgbClr val="C3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4773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number to test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06577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60% of users reach day 15?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5742432"/>
            <a:ext cx="182880" cy="182880"/>
          </a:xfrm>
          <a:prstGeom prst="ellipse">
            <a:avLst/>
          </a:prstGeom>
          <a:solidFill>
            <a:srgbClr val="EFB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56144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to line up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590702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neuropsychologist and an IRB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MindTrace — Business Case</dc:title>
  <dc:subject>PptxGenJS Presentation</dc:subject>
  <dc:creator>MindTrace</dc:creator>
  <cp:lastModifiedBy>MindTrace</cp:lastModifiedBy>
  <cp:revision>1</cp:revision>
  <dcterms:created xsi:type="dcterms:W3CDTF">2026-09-19T01:42:47Z</dcterms:created>
  <dcterms:modified xsi:type="dcterms:W3CDTF">2026-09-19T01:42:47Z</dcterms:modified>
</cp:coreProperties>
</file>